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lay"/>
      <p:regular r:id="rId22"/>
      <p:bold r:id="rId23"/>
    </p:embeddedFont>
    <p:embeddedFont>
      <p:font typeface="Libre Baskerville"/>
      <p:regular r:id="rId24"/>
      <p:bold r:id="rId25"/>
      <p:italic r:id="rId26"/>
      <p:boldItalic r:id="rId27"/>
    </p:embeddedFont>
    <p:embeddedFont>
      <p:font typeface="Helvetica Neue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uzCpIU2E+ET3YGj4hbvx3IPY7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63DF4A-92A1-4B4E-B321-3DCEE51734F9}">
  <a:tblStyle styleId="{3E63DF4A-92A1-4B4E-B321-3DCEE51734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9FB9F47-BE0E-4F6E-9F85-F562EBD960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regular.fntdata"/><Relationship Id="rId21" Type="http://schemas.openxmlformats.org/officeDocument/2006/relationships/slide" Target="slides/slide15.xml"/><Relationship Id="rId24" Type="http://schemas.openxmlformats.org/officeDocument/2006/relationships/font" Target="fonts/LibreBaskerville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ibreBaskerville-italic.fntdata"/><Relationship Id="rId25" Type="http://schemas.openxmlformats.org/officeDocument/2006/relationships/font" Target="fonts/LibreBaskerville-bold.fntdata"/><Relationship Id="rId28" Type="http://schemas.openxmlformats.org/officeDocument/2006/relationships/font" Target="fonts/HelveticaNeue-regular.fntdata"/><Relationship Id="rId27" Type="http://schemas.openxmlformats.org/officeDocument/2006/relationships/font" Target="fonts/LibreBaskervill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Aren</a:t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Aren</a:t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Aren</a:t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462fd33d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462fd33d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49a7166b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49a7166b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62fd33d1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462fd33d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Devyani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462fd33d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e462fd33d1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49763ec6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Aren</a:t>
            </a:r>
            <a:endParaRPr/>
          </a:p>
        </p:txBody>
      </p:sp>
      <p:sp>
        <p:nvSpPr>
          <p:cNvPr id="241" name="Google Shape;241;g3e49763ec6b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462fd33d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Aren</a:t>
            </a:r>
            <a:endParaRPr/>
          </a:p>
        </p:txBody>
      </p:sp>
      <p:sp>
        <p:nvSpPr>
          <p:cNvPr id="253" name="Google Shape;253;g3e462fd33d1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462fd33d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rohan</a:t>
            </a:r>
            <a:endParaRPr/>
          </a:p>
        </p:txBody>
      </p:sp>
      <p:sp>
        <p:nvSpPr>
          <p:cNvPr id="262" name="Google Shape;262;g3e462fd33d1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4f4ff1cf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4f4ff1c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rohan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462fd33d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rohan</a:t>
            </a:r>
            <a:endParaRPr/>
          </a:p>
        </p:txBody>
      </p:sp>
      <p:sp>
        <p:nvSpPr>
          <p:cNvPr id="287" name="Google Shape;287;g3e462fd33d1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462fd33d1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462fd33d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49763ec6b_1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49763ec6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Devyani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Phoenix" showMasterSp="0">
  <p:cSld name="Title Slide Grey Phoenix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"/>
          <p:cNvPicPr preferRelativeResize="0"/>
          <p:nvPr/>
        </p:nvPicPr>
        <p:blipFill rotWithShape="1">
          <a:blip r:embed="rId2">
            <a:alphaModFix amt="15000"/>
          </a:blip>
          <a:srcRect b="0" l="0" r="0" t="0"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0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/>
          <p:nvPr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" name="Google Shape;15;p10"/>
          <p:cNvCxnSpPr/>
          <p:nvPr/>
        </p:nvCxnSpPr>
        <p:spPr>
          <a:xfrm>
            <a:off x="0" y="639564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6D6C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0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Maroon" showMasterSp="0" type="secHead">
  <p:cSld name="SECTION_HEADER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/>
          <p:nvPr/>
        </p:nvSpPr>
        <p:spPr>
          <a:xfrm>
            <a:off x="0" y="3"/>
            <a:ext cx="12192000" cy="686523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831851" y="4968566"/>
            <a:ext cx="10515600" cy="92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type="title"/>
          </p:nvPr>
        </p:nvSpPr>
        <p:spPr>
          <a:xfrm>
            <a:off x="831851" y="2359716"/>
            <a:ext cx="10515600" cy="2581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Helvetica Neue"/>
              <a:buNone/>
              <a:defRPr b="0" i="0" sz="40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" name="Google Shape;104;p13"/>
          <p:cNvCxnSpPr/>
          <p:nvPr/>
        </p:nvCxnSpPr>
        <p:spPr>
          <a:xfrm>
            <a:off x="0" y="639564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6D6CE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5" name="Google Shape;105;p13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Phoenix" showMasterSp="0">
  <p:cSld name="Title Slide Grey Phoenix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5"/>
          <p:cNvPicPr preferRelativeResize="0"/>
          <p:nvPr/>
        </p:nvPicPr>
        <p:blipFill rotWithShape="1">
          <a:blip r:embed="rId2">
            <a:alphaModFix amt="15000"/>
          </a:blip>
          <a:srcRect b="0" l="0" r="0" t="0"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5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/>
          <p:nvPr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1" name="Google Shape;111;p25"/>
          <p:cNvCxnSpPr/>
          <p:nvPr/>
        </p:nvCxnSpPr>
        <p:spPr>
          <a:xfrm>
            <a:off x="0" y="639564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6D6C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title"/>
          </p:nvPr>
        </p:nvSpPr>
        <p:spPr>
          <a:xfrm>
            <a:off x="839788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8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7"/>
          <p:cNvSpPr txBox="1"/>
          <p:nvPr>
            <p:ph idx="2" type="body"/>
          </p:nvPr>
        </p:nvSpPr>
        <p:spPr>
          <a:xfrm>
            <a:off x="839789" y="2505078"/>
            <a:ext cx="5157787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8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7"/>
          <p:cNvSpPr txBox="1"/>
          <p:nvPr>
            <p:ph idx="4" type="body"/>
          </p:nvPr>
        </p:nvSpPr>
        <p:spPr>
          <a:xfrm>
            <a:off x="6172202" y="2505078"/>
            <a:ext cx="5183188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/>
          <p:nvPr>
            <p:ph idx="2" type="pic"/>
          </p:nvPr>
        </p:nvSpPr>
        <p:spPr>
          <a:xfrm>
            <a:off x="838200" y="1811871"/>
            <a:ext cx="7315200" cy="4049183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8610600" y="1811868"/>
            <a:ext cx="2743200" cy="4057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0" i="0"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134" name="Google Shape;134;p30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30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2.xml"/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/>
          <p:nvPr/>
        </p:nvSpPr>
        <p:spPr>
          <a:xfrm>
            <a:off x="0" y="6400222"/>
            <a:ext cx="12192000" cy="466344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9" name="Google Shape;89;p11"/>
          <p:cNvCxnSpPr/>
          <p:nvPr/>
        </p:nvCxnSpPr>
        <p:spPr>
          <a:xfrm>
            <a:off x="0" y="639564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D6D6C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1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 sz="3600" u="none" cap="none" strike="noStrike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36713" y="6401337"/>
            <a:ext cx="2844942" cy="4754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gif"/><Relationship Id="rId4" Type="http://schemas.openxmlformats.org/officeDocument/2006/relationships/image" Target="../media/image5.jpg"/><Relationship Id="rId5" Type="http://schemas.openxmlformats.org/officeDocument/2006/relationships/image" Target="../media/image19.jpg"/><Relationship Id="rId6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UoOGNYpOkE4_mNDDedYg8ZS_cwcaBush/view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ctrTitle"/>
          </p:nvPr>
        </p:nvSpPr>
        <p:spPr>
          <a:xfrm>
            <a:off x="950579" y="1293181"/>
            <a:ext cx="635267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800"/>
              <a:buFont typeface="Arial"/>
              <a:buNone/>
            </a:pPr>
            <a:r>
              <a:rPr b="1" lang="en-US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Iron Count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950578" y="4215162"/>
            <a:ext cx="8613551" cy="180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7143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Helvetica Neue"/>
              <a:buNone/>
            </a:pPr>
            <a:r>
              <a:rPr b="1" lang="en-US" sz="2200"/>
              <a:t>Mobile Workout Classifier and Rep Counter</a:t>
            </a:r>
            <a:endParaRPr b="1" sz="2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Helvetica Neue"/>
              <a:buNone/>
            </a:pPr>
            <a:r>
              <a:t/>
            </a:r>
            <a:endParaRPr b="1" sz="2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Helvetica Neue"/>
              <a:buNone/>
            </a:pPr>
            <a:r>
              <a:rPr b="1" lang="en-US" sz="2200"/>
              <a:t>Aren Mizuno, Devyani Rastogi, Kennedy Damtse, Rohan Muralidhar</a:t>
            </a:r>
            <a:endParaRPr b="1" sz="2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Helvetica Neue"/>
              <a:buNone/>
            </a:pPr>
            <a:r>
              <a:t/>
            </a:r>
            <a:endParaRPr b="1" sz="2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Helvetica Neue"/>
              <a:buNone/>
            </a:pPr>
            <a:r>
              <a:rPr b="1" lang="en-US" sz="2200"/>
              <a:t>Spring 2026</a:t>
            </a:r>
            <a:endParaRPr b="1" sz="22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sp>
        <p:nvSpPr>
          <p:cNvPr id="143" name="Google Shape;143;p1"/>
          <p:cNvSpPr txBox="1"/>
          <p:nvPr>
            <p:ph idx="4294967295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title"/>
          </p:nvPr>
        </p:nvSpPr>
        <p:spPr>
          <a:xfrm>
            <a:off x="838199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149" name="Google Shape;149;p2"/>
          <p:cNvSpPr txBox="1"/>
          <p:nvPr>
            <p:ph idx="12" type="sldNum"/>
          </p:nvPr>
        </p:nvSpPr>
        <p:spPr>
          <a:xfrm>
            <a:off x="8621618" y="6448113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838200" y="1027250"/>
            <a:ext cx="77835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Meet the Team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Business Problem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Pre-Processing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Classification Solution &amp; Results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Rep Counting Solution &amp; Results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Application Architecture and Demo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Challenges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Future Steps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type="title"/>
          </p:nvPr>
        </p:nvSpPr>
        <p:spPr>
          <a:xfrm>
            <a:off x="838186" y="144175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Meet the Team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t/>
            </a:r>
            <a:endParaRPr sz="2750">
              <a:solidFill>
                <a:srgbClr val="8528CB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8621618" y="6448113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176662" y="3898084"/>
            <a:ext cx="2461500" cy="1929600"/>
          </a:xfrm>
          <a:prstGeom prst="roundRect">
            <a:avLst>
              <a:gd fmla="val 51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700" lIns="121700" spcFirstLastPara="1" rIns="121700" wrap="square" tIns="12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93775" y="3441500"/>
            <a:ext cx="15780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797"/>
              <a:buFont typeface="Libre Baskerville"/>
              <a:buNone/>
            </a:pPr>
            <a:r>
              <a:rPr lang="en-US" sz="2000">
                <a:solidFill>
                  <a:schemeClr val="dk1"/>
                </a:solidFill>
              </a:rPr>
              <a:t>Aren Mizuno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602475" y="3471450"/>
            <a:ext cx="19092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797"/>
              <a:buFont typeface="Libre Baskerville"/>
              <a:buNone/>
            </a:pPr>
            <a:r>
              <a:rPr lang="en-US" sz="2000">
                <a:solidFill>
                  <a:schemeClr val="dk1"/>
                </a:solidFill>
              </a:rPr>
              <a:t>Devyani Rastogi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393075" y="3436200"/>
            <a:ext cx="2076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797"/>
              <a:buFont typeface="Libre Baskerville"/>
              <a:buNone/>
            </a:pPr>
            <a:r>
              <a:rPr lang="en-US" sz="2000">
                <a:solidFill>
                  <a:schemeClr val="dk1"/>
                </a:solidFill>
              </a:rPr>
              <a:t>Kennedy Damtse</a:t>
            </a:r>
            <a:endParaRPr sz="1797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080500" y="4123825"/>
            <a:ext cx="24204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0465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"/>
              <a:buChar char="●"/>
            </a:pPr>
            <a:r>
              <a:rPr lang="en-US" sz="1132">
                <a:solidFill>
                  <a:schemeClr val="dk1"/>
                </a:solidFill>
              </a:rPr>
              <a:t>MS Applied Data Science,</a:t>
            </a:r>
            <a:endParaRPr sz="1132"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2">
                <a:solidFill>
                  <a:schemeClr val="dk1"/>
                </a:solidFill>
              </a:rPr>
              <a:t>UChicago</a:t>
            </a:r>
            <a:endParaRPr sz="1132">
              <a:solidFill>
                <a:schemeClr val="dk1"/>
              </a:solidFill>
            </a:endParaRPr>
          </a:p>
          <a:p>
            <a:pPr indent="-300465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"/>
              <a:buChar char="●"/>
            </a:pPr>
            <a:r>
              <a:rPr lang="en-US" sz="1132">
                <a:solidFill>
                  <a:schemeClr val="dk1"/>
                </a:solidFill>
              </a:rPr>
              <a:t>BA Political Science &amp; Data Science, The College of Wooster</a:t>
            </a:r>
            <a:endParaRPr sz="1132">
              <a:solidFill>
                <a:schemeClr val="dk1"/>
              </a:solidFill>
            </a:endParaRPr>
          </a:p>
          <a:p>
            <a:pPr indent="-300465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"/>
              <a:buChar char="●"/>
            </a:pPr>
            <a:r>
              <a:rPr lang="en-US" sz="1132">
                <a:solidFill>
                  <a:schemeClr val="dk1"/>
                </a:solidFill>
              </a:rPr>
              <a:t>Data Science Intern, Goodyear</a:t>
            </a:r>
            <a:endParaRPr sz="1132">
              <a:solidFill>
                <a:schemeClr val="dk1"/>
              </a:solidFill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9242375" y="3441500"/>
            <a:ext cx="2288100" cy="2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797"/>
              <a:buFont typeface="Libre Baskerville"/>
              <a:buNone/>
            </a:pPr>
            <a:r>
              <a:rPr lang="en-US" sz="2000">
                <a:solidFill>
                  <a:schemeClr val="dk1"/>
                </a:solidFill>
              </a:rPr>
              <a:t>Rohan Muralidhar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pic>
        <p:nvPicPr>
          <p:cNvPr id="164" name="Google Shape;164;p4" title="tempImagenWLXp5.gif"/>
          <p:cNvPicPr preferRelativeResize="0"/>
          <p:nvPr/>
        </p:nvPicPr>
        <p:blipFill rotWithShape="1">
          <a:blip r:embed="rId3">
            <a:alphaModFix/>
          </a:blip>
          <a:srcRect b="0" l="739" r="739" t="0"/>
          <a:stretch/>
        </p:blipFill>
        <p:spPr>
          <a:xfrm>
            <a:off x="6435515" y="1355010"/>
            <a:ext cx="1991700" cy="1989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5" name="Google Shape;165;p4" title="headshot.jpg"/>
          <p:cNvPicPr preferRelativeResize="0"/>
          <p:nvPr/>
        </p:nvPicPr>
        <p:blipFill rotWithShape="1">
          <a:blip r:embed="rId4">
            <a:alphaModFix/>
          </a:blip>
          <a:srcRect b="60" l="0" r="0" t="60"/>
          <a:stretch/>
        </p:blipFill>
        <p:spPr>
          <a:xfrm>
            <a:off x="686929" y="1341291"/>
            <a:ext cx="1991700" cy="1989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3314347" y="3898070"/>
            <a:ext cx="2461500" cy="1929600"/>
          </a:xfrm>
          <a:prstGeom prst="roundRect">
            <a:avLst>
              <a:gd fmla="val 51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700" lIns="121700" spcFirstLastPara="1" rIns="121700" wrap="square" tIns="12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3218178" y="4049488"/>
            <a:ext cx="24204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2">
              <a:solidFill>
                <a:srgbClr val="4949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52019" y="3898080"/>
            <a:ext cx="2461500" cy="1929600"/>
          </a:xfrm>
          <a:prstGeom prst="roundRect">
            <a:avLst>
              <a:gd fmla="val 51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700" lIns="121700" spcFirstLastPara="1" rIns="121700" wrap="square" tIns="12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355850" y="4000072"/>
            <a:ext cx="24204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131" lvl="0" marL="608561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MS Applied Data Science, UChicago</a:t>
            </a:r>
            <a:endParaRPr sz="1100">
              <a:solidFill>
                <a:schemeClr val="dk1"/>
              </a:solidFill>
            </a:endParaRPr>
          </a:p>
          <a:p>
            <a:pPr indent="-374131" lvl="0" marL="608561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BA Data Science &amp; Business Economics, UChicago</a:t>
            </a:r>
            <a:endParaRPr sz="1100">
              <a:solidFill>
                <a:schemeClr val="dk1"/>
              </a:solidFill>
            </a:endParaRPr>
          </a:p>
          <a:p>
            <a:pPr indent="-374131" lvl="0" marL="608561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 Science Intern, Actelligent</a:t>
            </a:r>
            <a:endParaRPr sz="1100">
              <a:solidFill>
                <a:schemeClr val="dk1"/>
              </a:solidFill>
            </a:endParaRPr>
          </a:p>
          <a:p>
            <a:pPr indent="-374131" lvl="0" marL="608561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 Science Intern, Morningstar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9135054" y="3898067"/>
            <a:ext cx="2461500" cy="1929600"/>
          </a:xfrm>
          <a:prstGeom prst="roundRect">
            <a:avLst>
              <a:gd fmla="val 510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21700" lIns="121700" spcFirstLastPara="1" rIns="121700" wrap="square" tIns="12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9176235" y="4000072"/>
            <a:ext cx="24204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0465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"/>
              <a:buChar char="●"/>
            </a:pPr>
            <a:r>
              <a:rPr lang="en-US" sz="1132">
                <a:solidFill>
                  <a:schemeClr val="dk1"/>
                </a:solidFill>
              </a:rPr>
              <a:t>MS Applied Data Science,</a:t>
            </a:r>
            <a:endParaRPr sz="1132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32">
                <a:solidFill>
                  <a:schemeClr val="dk1"/>
                </a:solidFill>
              </a:rPr>
              <a:t>UChicago</a:t>
            </a:r>
            <a:endParaRPr sz="1132">
              <a:solidFill>
                <a:schemeClr val="dk1"/>
              </a:solidFill>
            </a:endParaRPr>
          </a:p>
          <a:p>
            <a:pPr indent="-300465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"/>
              <a:buChar char="●"/>
            </a:pPr>
            <a:r>
              <a:rPr lang="en-US" sz="1132">
                <a:solidFill>
                  <a:schemeClr val="dk1"/>
                </a:solidFill>
              </a:rPr>
              <a:t>BS Data Science, Purdue University</a:t>
            </a:r>
            <a:endParaRPr sz="1132">
              <a:solidFill>
                <a:schemeClr val="dk1"/>
              </a:solidFill>
            </a:endParaRPr>
          </a:p>
          <a:p>
            <a:pPr indent="-300465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"/>
              <a:buChar char="●"/>
            </a:pPr>
            <a:r>
              <a:rPr lang="en-US" sz="1132">
                <a:solidFill>
                  <a:schemeClr val="dk1"/>
                </a:solidFill>
              </a:rPr>
              <a:t>AI/ML Intern, Dassault Systemes</a:t>
            </a:r>
            <a:endParaRPr sz="1132">
              <a:solidFill>
                <a:schemeClr val="dk1"/>
              </a:solidFill>
            </a:endParaRPr>
          </a:p>
          <a:p>
            <a:pPr indent="-300465" lvl="0" marL="45720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2"/>
              <a:buChar char="●"/>
            </a:pPr>
            <a:r>
              <a:rPr lang="en-US" sz="1132">
                <a:solidFill>
                  <a:schemeClr val="dk1"/>
                </a:solidFill>
              </a:rPr>
              <a:t>Data Science Intern, Kens Foods</a:t>
            </a:r>
            <a:endParaRPr sz="1132">
              <a:solidFill>
                <a:schemeClr val="dk1"/>
              </a:solidFill>
            </a:endParaRPr>
          </a:p>
        </p:txBody>
      </p:sp>
      <p:pic>
        <p:nvPicPr>
          <p:cNvPr id="172" name="Google Shape;172;p4" title="IMG_5908.jpg"/>
          <p:cNvPicPr preferRelativeResize="0"/>
          <p:nvPr/>
        </p:nvPicPr>
        <p:blipFill rotWithShape="1">
          <a:blip r:embed="rId5">
            <a:alphaModFix/>
          </a:blip>
          <a:srcRect b="33382" l="0" r="0" t="0"/>
          <a:stretch/>
        </p:blipFill>
        <p:spPr>
          <a:xfrm>
            <a:off x="3561229" y="1351766"/>
            <a:ext cx="1991700" cy="1989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3" name="Google Shape;173;p4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pic>
        <p:nvPicPr>
          <p:cNvPr id="174" name="Google Shape;174;p4" title="IMG_2430.jpeg"/>
          <p:cNvPicPr preferRelativeResize="0"/>
          <p:nvPr/>
        </p:nvPicPr>
        <p:blipFill rotWithShape="1">
          <a:blip r:embed="rId6">
            <a:alphaModFix/>
          </a:blip>
          <a:srcRect b="1550" l="0" r="0" t="1550"/>
          <a:stretch/>
        </p:blipFill>
        <p:spPr>
          <a:xfrm>
            <a:off x="9273954" y="1263716"/>
            <a:ext cx="1991700" cy="1989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5" name="Google Shape;175;p4"/>
          <p:cNvSpPr/>
          <p:nvPr/>
        </p:nvSpPr>
        <p:spPr>
          <a:xfrm>
            <a:off x="3334900" y="4108222"/>
            <a:ext cx="24204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131" lvl="0" marL="608561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MS Applied Data Science, UChicago</a:t>
            </a:r>
            <a:endParaRPr sz="1100">
              <a:solidFill>
                <a:schemeClr val="dk1"/>
              </a:solidFill>
            </a:endParaRPr>
          </a:p>
          <a:p>
            <a:pPr indent="-374131" lvl="0" marL="608561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BA Economics and Data Science, NYU </a:t>
            </a:r>
            <a:endParaRPr sz="1100">
              <a:solidFill>
                <a:schemeClr val="dk1"/>
              </a:solidFill>
            </a:endParaRPr>
          </a:p>
          <a:p>
            <a:pPr indent="-374131" lvl="0" marL="608561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 Science Intern, United Nations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462fd33d1_0_39"/>
          <p:cNvSpPr/>
          <p:nvPr/>
        </p:nvSpPr>
        <p:spPr>
          <a:xfrm>
            <a:off x="394150" y="1166000"/>
            <a:ext cx="11252700" cy="4976100"/>
          </a:xfrm>
          <a:prstGeom prst="roundRect">
            <a:avLst>
              <a:gd fmla="val 734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g3e462fd33d1_0_39"/>
          <p:cNvSpPr txBox="1"/>
          <p:nvPr>
            <p:ph type="title"/>
          </p:nvPr>
        </p:nvSpPr>
        <p:spPr>
          <a:xfrm>
            <a:off x="838199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Business Problem</a:t>
            </a:r>
            <a:endParaRPr/>
          </a:p>
        </p:txBody>
      </p:sp>
      <p:sp>
        <p:nvSpPr>
          <p:cNvPr id="182" name="Google Shape;182;g3e462fd33d1_0_39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462fd33d1_0_39"/>
          <p:cNvSpPr txBox="1"/>
          <p:nvPr>
            <p:ph idx="1" type="body"/>
          </p:nvPr>
        </p:nvSpPr>
        <p:spPr>
          <a:xfrm>
            <a:off x="821375" y="1537800"/>
            <a:ext cx="10608300" cy="4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Users often lose track of repetitions during workouts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Improper Workout form can also </a:t>
            </a:r>
            <a:r>
              <a:rPr lang="en-US"/>
              <a:t>increase</a:t>
            </a:r>
            <a:r>
              <a:rPr lang="en-US"/>
              <a:t> the risk of injury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Current fitness applications lack accurate real-time visual analysis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Gym users need intelligent systems capable of automated exercise monitoring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Goal: AI- based fitness assistant that uses a mobile camera to track rep counts and classify workouts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4" name="Google Shape;184;g3e462fd33d1_0_39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49a7166b0_0_2"/>
          <p:cNvSpPr/>
          <p:nvPr/>
        </p:nvSpPr>
        <p:spPr>
          <a:xfrm>
            <a:off x="564425" y="3739250"/>
            <a:ext cx="5912100" cy="170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g3e49a7166b0_0_2"/>
          <p:cNvSpPr/>
          <p:nvPr/>
        </p:nvSpPr>
        <p:spPr>
          <a:xfrm>
            <a:off x="564425" y="1536900"/>
            <a:ext cx="5912100" cy="170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g3e49a7166b0_0_2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Problems Addressed</a:t>
            </a:r>
            <a:endParaRPr b="1"/>
          </a:p>
        </p:txBody>
      </p:sp>
      <p:sp>
        <p:nvSpPr>
          <p:cNvPr id="192" name="Google Shape;192;g3e49a7166b0_0_2"/>
          <p:cNvSpPr txBox="1"/>
          <p:nvPr>
            <p:ph idx="1" type="body"/>
          </p:nvPr>
        </p:nvSpPr>
        <p:spPr>
          <a:xfrm>
            <a:off x="827850" y="1847700"/>
            <a:ext cx="5763600" cy="1085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700"/>
              <a:t>Exercise Classification</a:t>
            </a:r>
            <a:endParaRPr b="1" sz="27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Identify exercises such as squats, push ups, lunges, curls etc</a:t>
            </a:r>
            <a:endParaRPr sz="2300"/>
          </a:p>
        </p:txBody>
      </p:sp>
      <p:pic>
        <p:nvPicPr>
          <p:cNvPr id="193" name="Google Shape;193;g3e49a7166b0_0_2" title="Screenshot 2026-05-25 at 11.18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1000" y="1448775"/>
            <a:ext cx="5006201" cy="32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e49a7166b0_0_2"/>
          <p:cNvSpPr txBox="1"/>
          <p:nvPr/>
        </p:nvSpPr>
        <p:spPr>
          <a:xfrm>
            <a:off x="638675" y="3527600"/>
            <a:ext cx="57636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 Counting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 repetitive motion cycles and estimate rep count in real time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g3e49a7166b0_0_2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49a7166b0_0_2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462fd33d1_0_50"/>
          <p:cNvSpPr/>
          <p:nvPr/>
        </p:nvSpPr>
        <p:spPr>
          <a:xfrm>
            <a:off x="513750" y="3545575"/>
            <a:ext cx="3078900" cy="2723100"/>
          </a:xfrm>
          <a:prstGeom prst="roundRect">
            <a:avLst>
              <a:gd fmla="val 53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g3e462fd33d1_0_50"/>
          <p:cNvSpPr/>
          <p:nvPr/>
        </p:nvSpPr>
        <p:spPr>
          <a:xfrm>
            <a:off x="521225" y="2312175"/>
            <a:ext cx="3078900" cy="87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g3e462fd33d1_0_50"/>
          <p:cNvSpPr/>
          <p:nvPr/>
        </p:nvSpPr>
        <p:spPr>
          <a:xfrm>
            <a:off x="513725" y="1417638"/>
            <a:ext cx="3078900" cy="59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3e462fd33d1_0_50"/>
          <p:cNvSpPr txBox="1"/>
          <p:nvPr>
            <p:ph type="title"/>
          </p:nvPr>
        </p:nvSpPr>
        <p:spPr>
          <a:xfrm>
            <a:off x="507275" y="18735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462fd33d1_0_50"/>
          <p:cNvSpPr/>
          <p:nvPr/>
        </p:nvSpPr>
        <p:spPr>
          <a:xfrm>
            <a:off x="492737" y="953227"/>
            <a:ext cx="23031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313"/>
              <a:buFont typeface="Libre Baskerville"/>
              <a:buNone/>
            </a:pPr>
            <a:r>
              <a:rPr lang="en-US" sz="1800">
                <a:solidFill>
                  <a:schemeClr val="dk1"/>
                </a:solidFill>
              </a:rPr>
              <a:t>Dataset Overview: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06" name="Google Shape;206;g3e462fd33d1_0_50"/>
          <p:cNvSpPr/>
          <p:nvPr/>
        </p:nvSpPr>
        <p:spPr>
          <a:xfrm>
            <a:off x="610624" y="1468402"/>
            <a:ext cx="8247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13"/>
              <a:buFont typeface="Libre Baskerville"/>
              <a:buNone/>
            </a:pPr>
            <a:r>
              <a:rPr i="0" lang="en-US" sz="1513" u="none" cap="none" strike="noStrike">
                <a:solidFill>
                  <a:schemeClr val="dk1"/>
                </a:solidFill>
              </a:rPr>
              <a:t>Source</a:t>
            </a:r>
            <a:endParaRPr i="0" sz="1513" u="none" cap="none" strike="noStrike">
              <a:solidFill>
                <a:schemeClr val="dk1"/>
              </a:solidFill>
            </a:endParaRPr>
          </a:p>
        </p:txBody>
      </p:sp>
      <p:sp>
        <p:nvSpPr>
          <p:cNvPr id="207" name="Google Shape;207;g3e462fd33d1_0_50"/>
          <p:cNvSpPr/>
          <p:nvPr/>
        </p:nvSpPr>
        <p:spPr>
          <a:xfrm>
            <a:off x="610625" y="1745975"/>
            <a:ext cx="28644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63"/>
              <a:buFont typeface="Open Sans"/>
              <a:buNone/>
            </a:pPr>
            <a:r>
              <a:rPr lang="en-US" sz="1300">
                <a:solidFill>
                  <a:schemeClr val="dk1"/>
                </a:solidFill>
              </a:rPr>
              <a:t>K</a:t>
            </a:r>
            <a:r>
              <a:rPr lang="en-US" sz="1300">
                <a:solidFill>
                  <a:schemeClr val="dk1"/>
                </a:solidFill>
              </a:rPr>
              <a:t>a</a:t>
            </a:r>
            <a:r>
              <a:rPr lang="en-US" sz="1300">
                <a:solidFill>
                  <a:schemeClr val="dk1"/>
                </a:solidFill>
              </a:rPr>
              <a:t>ggle Gym Workout/Exercises Video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63"/>
              <a:buFont typeface="Open Sans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63"/>
              <a:buFont typeface="Open Sans"/>
              <a:buNone/>
            </a:pPr>
            <a:r>
              <a:rPr lang="en-US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08" name="Google Shape;208;g3e462fd33d1_0_50"/>
          <p:cNvSpPr/>
          <p:nvPr/>
        </p:nvSpPr>
        <p:spPr>
          <a:xfrm>
            <a:off x="606136" y="3589847"/>
            <a:ext cx="1890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13"/>
              <a:buFont typeface="Libre Baskerville"/>
              <a:buNone/>
            </a:pPr>
            <a:r>
              <a:rPr lang="en-US" sz="1513">
                <a:solidFill>
                  <a:schemeClr val="dk1"/>
                </a:solidFill>
              </a:rPr>
              <a:t>Test/Train Split</a:t>
            </a:r>
            <a:endParaRPr i="0" sz="1513" u="none" cap="none" strike="noStrike">
              <a:solidFill>
                <a:schemeClr val="dk1"/>
              </a:solidFill>
            </a:endParaRPr>
          </a:p>
        </p:txBody>
      </p:sp>
      <p:sp>
        <p:nvSpPr>
          <p:cNvPr id="209" name="Google Shape;209;g3e462fd33d1_0_50"/>
          <p:cNvSpPr/>
          <p:nvPr/>
        </p:nvSpPr>
        <p:spPr>
          <a:xfrm>
            <a:off x="606152" y="3876894"/>
            <a:ext cx="2744400" cy="24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63"/>
              <a:buFont typeface="Open Sans"/>
              <a:buNone/>
            </a:pPr>
            <a:r>
              <a:rPr lang="en-US" sz="1300">
                <a:solidFill>
                  <a:schemeClr val="dk1"/>
                </a:solidFill>
              </a:rPr>
              <a:t>Train/Verified (1,571 videos):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Cleaned and segmented exercise clips (10–13s max)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817 videos from Workout/Exercises Video dataset </a:t>
            </a:r>
            <a:r>
              <a:rPr lang="en-US" sz="1300">
                <a:solidFill>
                  <a:schemeClr val="dk1"/>
                </a:solidFill>
              </a:rPr>
              <a:t>(Hasyim Abdillah)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754 videos crawled from YouTube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Test (61 videos):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61 noisy real-world videos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0" name="Google Shape;210;g3e462fd33d1_0_50"/>
          <p:cNvSpPr/>
          <p:nvPr/>
        </p:nvSpPr>
        <p:spPr>
          <a:xfrm>
            <a:off x="606125" y="2698300"/>
            <a:ext cx="28644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2447" lvl="0" marL="439793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No corrupted videos</a:t>
            </a:r>
            <a:endParaRPr sz="1300">
              <a:solidFill>
                <a:schemeClr val="dk1"/>
              </a:solidFill>
            </a:endParaRPr>
          </a:p>
          <a:p>
            <a:pPr indent="-302447" lvl="0" marL="439793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22 exercises (removed planks)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1" name="Google Shape;211;g3e462fd33d1_0_50"/>
          <p:cNvSpPr/>
          <p:nvPr/>
        </p:nvSpPr>
        <p:spPr>
          <a:xfrm>
            <a:off x="606139" y="2388224"/>
            <a:ext cx="2215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63"/>
              <a:buFont typeface="Libre Baskerville"/>
              <a:buNone/>
            </a:pPr>
            <a:r>
              <a:rPr lang="en-US" sz="1500">
                <a:solidFill>
                  <a:schemeClr val="dk1"/>
                </a:solidFill>
              </a:rPr>
              <a:t>Additional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pic>
        <p:nvPicPr>
          <p:cNvPr id="212" name="Google Shape;212;g3e462fd33d1_0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5138" y="49275"/>
            <a:ext cx="2859905" cy="141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e462fd33d1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3325" y="0"/>
            <a:ext cx="2864399" cy="1421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e462fd33d1_0_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7550" y="1500150"/>
            <a:ext cx="2690185" cy="16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e462fd33d1_0_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9975" y="1500150"/>
            <a:ext cx="2690230" cy="16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e462fd33d1_0_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37514" y="3200488"/>
            <a:ext cx="2690250" cy="1668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e462fd33d1_0_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19975" y="3200500"/>
            <a:ext cx="2690225" cy="166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e462fd33d1_0_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24063" y="4823475"/>
            <a:ext cx="2917174" cy="144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e462fd33d1_0_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06488" y="4900875"/>
            <a:ext cx="2917182" cy="14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e462fd33d1_0_50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sp>
        <p:nvSpPr>
          <p:cNvPr id="221" name="Google Shape;221;g3e462fd33d1_0_50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462fd33d1_0_90"/>
          <p:cNvSpPr txBox="1"/>
          <p:nvPr>
            <p:ph type="title"/>
          </p:nvPr>
        </p:nvSpPr>
        <p:spPr>
          <a:xfrm>
            <a:off x="838199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Pre-Processing</a:t>
            </a:r>
            <a:endParaRPr/>
          </a:p>
        </p:txBody>
      </p:sp>
      <p:sp>
        <p:nvSpPr>
          <p:cNvPr id="227" name="Google Shape;227;g3e462fd33d1_0_90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462fd33d1_0_90"/>
          <p:cNvSpPr/>
          <p:nvPr/>
        </p:nvSpPr>
        <p:spPr>
          <a:xfrm>
            <a:off x="838200" y="1312800"/>
            <a:ext cx="4380900" cy="2347200"/>
          </a:xfrm>
          <a:prstGeom prst="roundRect">
            <a:avLst>
              <a:gd fmla="val 982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4325" lIns="114325" spcFirstLastPara="1" rIns="114325" wrap="square" tIns="11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462fd33d1_0_90"/>
          <p:cNvSpPr/>
          <p:nvPr/>
        </p:nvSpPr>
        <p:spPr>
          <a:xfrm>
            <a:off x="956100" y="1707775"/>
            <a:ext cx="3505200" cy="19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Extracted 33 pose landmarks per frame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Generated: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Normalized landmark coordinates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Joint-angle features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Geometry/body-position features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Temporal velocity features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g3e462fd33d1_0_90"/>
          <p:cNvSpPr/>
          <p:nvPr/>
        </p:nvSpPr>
        <p:spPr>
          <a:xfrm>
            <a:off x="6335954" y="3803225"/>
            <a:ext cx="3937800" cy="2278800"/>
          </a:xfrm>
          <a:prstGeom prst="roundRect">
            <a:avLst>
              <a:gd fmla="val 5394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14325" lIns="114325" spcFirstLastPara="1" rIns="114325" wrap="square" tIns="11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e462fd33d1_0_90"/>
          <p:cNvSpPr/>
          <p:nvPr/>
        </p:nvSpPr>
        <p:spPr>
          <a:xfrm>
            <a:off x="6460597" y="3925600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13"/>
              <a:buFont typeface="Libre Baskerville"/>
              <a:buNone/>
            </a:pPr>
            <a:r>
              <a:rPr lang="en-US" sz="1713">
                <a:solidFill>
                  <a:schemeClr val="lt1"/>
                </a:solidFill>
              </a:rPr>
              <a:t>Final Feature Representation</a:t>
            </a:r>
            <a:endParaRPr i="0" sz="1713" u="none" cap="none" strike="noStrike">
              <a:solidFill>
                <a:schemeClr val="lt1"/>
              </a:solidFill>
            </a:endParaRPr>
          </a:p>
        </p:txBody>
      </p:sp>
      <p:sp>
        <p:nvSpPr>
          <p:cNvPr id="232" name="Google Shape;232;g3e462fd33d1_0_90"/>
          <p:cNvSpPr/>
          <p:nvPr/>
        </p:nvSpPr>
        <p:spPr>
          <a:xfrm>
            <a:off x="6460600" y="4290700"/>
            <a:ext cx="36291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</a:rPr>
              <a:t>Per frame: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150 base pose features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150 velocity features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</a:rPr>
              <a:t>Final model input: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48 × 300</a:t>
            </a:r>
            <a:r>
              <a:rPr lang="en-US" sz="1500">
                <a:solidFill>
                  <a:schemeClr val="lt1"/>
                </a:solidFill>
              </a:rPr>
              <a:t> feature sequences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233" name="Google Shape;233;g3e462fd33d1_0_90"/>
          <p:cNvSpPr/>
          <p:nvPr/>
        </p:nvSpPr>
        <p:spPr>
          <a:xfrm>
            <a:off x="838200" y="3882350"/>
            <a:ext cx="4380900" cy="2199600"/>
          </a:xfrm>
          <a:prstGeom prst="roundRect">
            <a:avLst>
              <a:gd fmla="val 875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09975" lIns="109975" spcFirstLastPara="1" rIns="109975" wrap="square" tIns="109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234" name="Google Shape;234;g3e462fd33d1_0_90"/>
          <p:cNvSpPr/>
          <p:nvPr/>
        </p:nvSpPr>
        <p:spPr>
          <a:xfrm>
            <a:off x="951625" y="4448175"/>
            <a:ext cx="37032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Built overlapping sliding-window sequences: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48 frames per sequence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50% overlap</a:t>
            </a:r>
            <a:endParaRPr>
              <a:solidFill>
                <a:schemeClr val="dk1"/>
              </a:solidFill>
            </a:endParaRPr>
          </a:p>
          <a:p>
            <a:pPr indent="-308797" lvl="0" marL="439793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Converted videos into fixed-length temporal pose sequences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g3e462fd33d1_0_90"/>
          <p:cNvSpPr/>
          <p:nvPr/>
        </p:nvSpPr>
        <p:spPr>
          <a:xfrm>
            <a:off x="979824" y="4008050"/>
            <a:ext cx="3822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63"/>
              <a:buFont typeface="Libre Baskerville"/>
              <a:buNone/>
            </a:pPr>
            <a:r>
              <a:rPr lang="en-US" sz="1700">
                <a:solidFill>
                  <a:schemeClr val="dk1"/>
                </a:solidFill>
              </a:rPr>
              <a:t>Temporal Sequence Construction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236" name="Google Shape;236;g3e462fd33d1_0_90"/>
          <p:cNvSpPr/>
          <p:nvPr/>
        </p:nvSpPr>
        <p:spPr>
          <a:xfrm>
            <a:off x="956105" y="1349933"/>
            <a:ext cx="334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63"/>
              <a:buFont typeface="Libre Baskerville"/>
              <a:buNone/>
            </a:pPr>
            <a:r>
              <a:rPr lang="en-US" sz="1700">
                <a:solidFill>
                  <a:schemeClr val="dk1"/>
                </a:solidFill>
              </a:rPr>
              <a:t>MediaPipe Pose Extraction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pic>
        <p:nvPicPr>
          <p:cNvPr id="237" name="Google Shape;237;g3e462fd33d1_0_90" title="push-up-1-qg4o60kjwrq39cjqyge7999dyp4j0xhwl33d6f3i8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5950" y="1166000"/>
            <a:ext cx="3505200" cy="233678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e462fd33d1_0_90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49763ec6b_1_2"/>
          <p:cNvSpPr txBox="1"/>
          <p:nvPr>
            <p:ph type="title"/>
          </p:nvPr>
        </p:nvSpPr>
        <p:spPr>
          <a:xfrm>
            <a:off x="478949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Classification Solution</a:t>
            </a:r>
            <a:endParaRPr/>
          </a:p>
        </p:txBody>
      </p:sp>
      <p:sp>
        <p:nvSpPr>
          <p:cNvPr id="244" name="Google Shape;244;g3e49763ec6b_1_2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e49763ec6b_1_2"/>
          <p:cNvSpPr txBox="1"/>
          <p:nvPr/>
        </p:nvSpPr>
        <p:spPr>
          <a:xfrm>
            <a:off x="478950" y="1111100"/>
            <a:ext cx="4108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Pose-Based Classification Pipeline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46" name="Google Shape;246;g3e49763ec6b_1_2"/>
          <p:cNvSpPr txBox="1"/>
          <p:nvPr/>
        </p:nvSpPr>
        <p:spPr>
          <a:xfrm>
            <a:off x="516150" y="3601950"/>
            <a:ext cx="4034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Training Strategy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47" name="Google Shape;247;g3e49763ec6b_1_2"/>
          <p:cNvSpPr txBox="1"/>
          <p:nvPr/>
        </p:nvSpPr>
        <p:spPr>
          <a:xfrm>
            <a:off x="516150" y="1594675"/>
            <a:ext cx="46443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Capture workout video frames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Extract 33 MediaPipe body landmarks per frame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Generate pose, angle, geometry, and velocity features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Construct temporal frame sequences (48 frames)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Feed sequences into deep learning classification model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g3e49763ec6b_1_2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sp>
        <p:nvSpPr>
          <p:cNvPr id="249" name="Google Shape;249;g3e49763ec6b_1_2"/>
          <p:cNvSpPr txBox="1"/>
          <p:nvPr/>
        </p:nvSpPr>
        <p:spPr>
          <a:xfrm>
            <a:off x="327800" y="4099297"/>
            <a:ext cx="52275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5-Fold GroupKFold cross-validation by source video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StandardScaler normalization fit within each training fold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Pose-sequence augmentation for stronger generalization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Weighted cross-entropy loss to handle class imbalance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Adam optimizer with early stopping and LR scheduling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Final retraining using the best CV-selected hyperparameters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50" name="Google Shape;250;g3e49763ec6b_1_2"/>
          <p:cNvGraphicFramePr/>
          <p:nvPr/>
        </p:nvGraphicFramePr>
        <p:xfrm>
          <a:off x="5966650" y="30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{3E63DF4A-92A1-4B4E-B321-3DCEE51734F9}</a:tableStyleId>
              </a:tblPr>
              <a:tblGrid>
                <a:gridCol w="1221900"/>
                <a:gridCol w="2456700"/>
                <a:gridCol w="2456700"/>
              </a:tblGrid>
              <a:tr h="84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Strength / Purpose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Specific Hyperparameters Tested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5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CNN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Lightweight temporal feature extraction with fast mobile inference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Channels: (96,128,192,256), (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64,128,192,256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), (96,160,224,288), (128,160,224,320); kernels: (3,5,3,3), (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3,5,5,3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), (5,5,3,3); dropout: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0.30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–0.40; LR: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1e-3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, 5e-4;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weight decay: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1e-5</a:t>
                      </a:r>
                      <a:endParaRPr sz="12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5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LSTM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Sequential motion modeling using bidirectional temporal learning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Hidden size: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128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, 256; layers: 1,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; dropout: 0.30–0.40; LR: 1e-3,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5e-4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;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weight decay: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1e-5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;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bidirectional: True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5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CNN + LSTM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Combines local motion extraction with temporal sequence modeling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CNN channels: (96,128,192), (96,160,224), (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128,160,224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); hidden size: 128,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256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; layers: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, 2; dropout: 0.30–0.40; LR: 1e-3,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5e-4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; weight decay: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1e-5</a:t>
                      </a:r>
                      <a:endParaRPr sz="12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55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TCN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Efficient temporal modeling with dilated convolutions and residual connections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Projection channels: 128,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160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; TCN channels: (128,160,192,256), (128,192,224,256), (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160,192,224,288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); dilations: (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1,2,4,8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); kernel size: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3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, 5; dropout: 0.30–0.40; LR: 1e-3,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5e-4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; weight decay: </a:t>
                      </a:r>
                      <a:r>
                        <a:rPr lang="en-US" sz="1200">
                          <a:solidFill>
                            <a:schemeClr val="accent1"/>
                          </a:solidFill>
                        </a:rPr>
                        <a:t>1e-5</a:t>
                      </a:r>
                      <a:endParaRPr sz="12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462fd33d1_0_148"/>
          <p:cNvSpPr txBox="1"/>
          <p:nvPr>
            <p:ph type="title"/>
          </p:nvPr>
        </p:nvSpPr>
        <p:spPr>
          <a:xfrm>
            <a:off x="478949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Classification Solution Results</a:t>
            </a:r>
            <a:endParaRPr/>
          </a:p>
        </p:txBody>
      </p:sp>
      <p:sp>
        <p:nvSpPr>
          <p:cNvPr id="256" name="Google Shape;256;g3e462fd33d1_0_148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e462fd33d1_0_148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graphicFrame>
        <p:nvGraphicFramePr>
          <p:cNvPr id="258" name="Google Shape;258;g3e462fd33d1_0_148"/>
          <p:cNvGraphicFramePr/>
          <p:nvPr/>
        </p:nvGraphicFramePr>
        <p:xfrm>
          <a:off x="710075" y="137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{3E63DF4A-92A1-4B4E-B321-3DCEE51734F9}</a:tableStyleId>
              </a:tblPr>
              <a:tblGrid>
                <a:gridCol w="1917375"/>
                <a:gridCol w="1528050"/>
                <a:gridCol w="2228525"/>
              </a:tblGrid>
              <a:tr h="113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Model</a:t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Mean CV Accuracy</a:t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Official Test Accuracy</a:t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0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CNN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accent1"/>
                          </a:solidFill>
                        </a:rPr>
                        <a:t>88.50%</a:t>
                      </a:r>
                      <a:endParaRPr sz="17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57.00%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0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LSTM</a:t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87.31%</a:t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accent1"/>
                          </a:solidFill>
                        </a:rPr>
                        <a:t>59.40%</a:t>
                      </a:r>
                      <a:endParaRPr b="1" sz="17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04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CNN + LSTM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88.22%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57.70%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0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TCN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88.22%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57.39%</a:t>
                      </a:r>
                      <a:endParaRPr sz="17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pic>
        <p:nvPicPr>
          <p:cNvPr id="259" name="Google Shape;259;g3e462fd33d1_0_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700" y="1312800"/>
            <a:ext cx="5343786" cy="4830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462fd33d1_0_132"/>
          <p:cNvSpPr txBox="1"/>
          <p:nvPr>
            <p:ph type="title"/>
          </p:nvPr>
        </p:nvSpPr>
        <p:spPr>
          <a:xfrm>
            <a:off x="838199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Rep Counting Solution</a:t>
            </a:r>
            <a:endParaRPr/>
          </a:p>
        </p:txBody>
      </p:sp>
      <p:sp>
        <p:nvSpPr>
          <p:cNvPr id="265" name="Google Shape;265;g3e462fd33d1_0_132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462fd33d1_0_132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sp>
        <p:nvSpPr>
          <p:cNvPr id="267" name="Google Shape;267;g3e462fd33d1_0_132"/>
          <p:cNvSpPr/>
          <p:nvPr/>
        </p:nvSpPr>
        <p:spPr>
          <a:xfrm>
            <a:off x="1292575" y="1239750"/>
            <a:ext cx="4477500" cy="4849200"/>
          </a:xfrm>
          <a:prstGeom prst="roundRect">
            <a:avLst>
              <a:gd fmla="val 982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4325" lIns="114325" spcFirstLastPara="1" rIns="114325" wrap="square" tIns="11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462fd33d1_0_132"/>
          <p:cNvSpPr/>
          <p:nvPr/>
        </p:nvSpPr>
        <p:spPr>
          <a:xfrm>
            <a:off x="6522775" y="1239750"/>
            <a:ext cx="4477500" cy="4849200"/>
          </a:xfrm>
          <a:prstGeom prst="roundRect">
            <a:avLst>
              <a:gd fmla="val 982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4325" lIns="114325" spcFirstLastPara="1" rIns="114325" wrap="square" tIns="11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462fd33d1_0_132"/>
          <p:cNvSpPr txBox="1"/>
          <p:nvPr/>
        </p:nvSpPr>
        <p:spPr>
          <a:xfrm>
            <a:off x="1459350" y="1447650"/>
            <a:ext cx="42051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Angle-Based Counting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3D joint angle per frame averaged across both sides (elbows for curls/push-ups, knees for squats, hip for deadlifts)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Each exercise maps to a fixed joint and a two-state algorithm with hardcoded up/down angle thresholds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Deterministic and lightweight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Common approach for rep counting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Qualitative tuning of angle thresholds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g3e462fd33d1_0_132"/>
          <p:cNvSpPr txBox="1"/>
          <p:nvPr/>
        </p:nvSpPr>
        <p:spPr>
          <a:xfrm>
            <a:off x="6658975" y="1447650"/>
            <a:ext cx="42051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PCA-Based Counting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Per frame, extract a 12-dimension vector of symmetry averaged joint angles and body-normalized y-coordinates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Fit PCA on 35 training videos per exercise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Select the principal component whose projected time series has the highest periodicity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At inference, project each frame onto that PC to produce a single scalar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Improvements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Smoothing applied to reduce effects of frame-to-frame jitter or noisy pose estimates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Schmitt</a:t>
            </a:r>
            <a:r>
              <a:rPr lang="en-US">
                <a:solidFill>
                  <a:schemeClr val="dk1"/>
                </a:solidFill>
              </a:rPr>
              <a:t> Trigger requires full crossing (peak + valley) to prevent noise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4f4ff1cf5_0_0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Rep Counting Evaluation</a:t>
            </a:r>
            <a:endParaRPr/>
          </a:p>
        </p:txBody>
      </p:sp>
      <p:sp>
        <p:nvSpPr>
          <p:cNvPr id="276" name="Google Shape;276;g3e4f4ff1cf5_0_0"/>
          <p:cNvSpPr/>
          <p:nvPr/>
        </p:nvSpPr>
        <p:spPr>
          <a:xfrm>
            <a:off x="467950" y="1312800"/>
            <a:ext cx="3657900" cy="2469000"/>
          </a:xfrm>
          <a:prstGeom prst="roundRect">
            <a:avLst>
              <a:gd fmla="val 982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4325" lIns="114325" spcFirstLastPara="1" rIns="114325" wrap="square" tIns="11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4f4ff1cf5_0_0"/>
          <p:cNvSpPr txBox="1"/>
          <p:nvPr/>
        </p:nvSpPr>
        <p:spPr>
          <a:xfrm>
            <a:off x="643900" y="1312800"/>
            <a:ext cx="3306000" cy="21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Methodology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Qualitative evaluation during app use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Quantitative analysis done through manual test video set evaluation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Per video, run pca / angle rep counting, then enter true rep value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g3e4f4ff1cf5_0_0"/>
          <p:cNvSpPr/>
          <p:nvPr/>
        </p:nvSpPr>
        <p:spPr>
          <a:xfrm>
            <a:off x="4389038" y="1312800"/>
            <a:ext cx="3657900" cy="2469000"/>
          </a:xfrm>
          <a:prstGeom prst="roundRect">
            <a:avLst>
              <a:gd fmla="val 982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4325" lIns="114325" spcFirstLastPara="1" rIns="114325" wrap="square" tIns="11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4f4ff1cf5_0_0"/>
          <p:cNvSpPr/>
          <p:nvPr/>
        </p:nvSpPr>
        <p:spPr>
          <a:xfrm>
            <a:off x="8310125" y="1312800"/>
            <a:ext cx="3657900" cy="2469000"/>
          </a:xfrm>
          <a:prstGeom prst="roundRect">
            <a:avLst>
              <a:gd fmla="val 982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14325" lIns="114325" spcFirstLastPara="1" rIns="114325" wrap="square" tIns="114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4f4ff1cf5_0_0"/>
          <p:cNvSpPr txBox="1"/>
          <p:nvPr/>
        </p:nvSpPr>
        <p:spPr>
          <a:xfrm>
            <a:off x="4564975" y="1312800"/>
            <a:ext cx="3432300" cy="21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Takeaways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PCA approach outperformed angle calculation in terms of MAE and RMSE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PCA does well for exercises with consistent, low-noise motion cycles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Push-ups, pull-ups, hammer curl, tricep pushdown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g3e4f4ff1cf5_0_0"/>
          <p:cNvSpPr txBox="1"/>
          <p:nvPr/>
        </p:nvSpPr>
        <p:spPr>
          <a:xfrm>
            <a:off x="8486100" y="1312800"/>
            <a:ext cx="3306000" cy="21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Challenges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Occlusion: body parts blocking key landmarks mid-rep cause missing or erratic angle estimates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Pose Discrepancies: MediaPipe landmark confidence degrades when the exercise moves the person partially out of frame or at unusual viewing angles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82" name="Google Shape;282;g3e4f4ff1cf5_0_0"/>
          <p:cNvGraphicFramePr/>
          <p:nvPr/>
        </p:nvGraphicFramePr>
        <p:xfrm>
          <a:off x="838188" y="449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{C9FB9F47-BE0E-4F6E-9F85-F562EBD9602D}</a:tableStyleId>
              </a:tblPr>
              <a:tblGrid>
                <a:gridCol w="1469575"/>
                <a:gridCol w="1469575"/>
                <a:gridCol w="1469575"/>
                <a:gridCol w="1469575"/>
                <a:gridCol w="1469575"/>
                <a:gridCol w="1469575"/>
                <a:gridCol w="146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Approach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n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MAE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RMSE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bias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exact %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within 1 %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Angle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56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2.411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3.921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2.304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44.643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50.00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PCA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54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3.944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5.852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-2.167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14.815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29.63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g3e4f4ff1cf5_0_0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e4f4ff1cf5_0_0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462fd33d1_0_116"/>
          <p:cNvSpPr txBox="1"/>
          <p:nvPr>
            <p:ph type="title"/>
          </p:nvPr>
        </p:nvSpPr>
        <p:spPr>
          <a:xfrm>
            <a:off x="486049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Application Architecture and Demo</a:t>
            </a:r>
            <a:endParaRPr/>
          </a:p>
        </p:txBody>
      </p:sp>
      <p:sp>
        <p:nvSpPr>
          <p:cNvPr id="290" name="Google Shape;290;g3e462fd33d1_0_116"/>
          <p:cNvSpPr txBox="1"/>
          <p:nvPr/>
        </p:nvSpPr>
        <p:spPr>
          <a:xfrm>
            <a:off x="486050" y="896175"/>
            <a:ext cx="48582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iOS Application Pipeline – XCode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1" name="Google Shape;291;g3e462fd33d1_0_116"/>
          <p:cNvSpPr txBox="1"/>
          <p:nvPr>
            <p:ph idx="12" type="sldNum"/>
          </p:nvPr>
        </p:nvSpPr>
        <p:spPr>
          <a:xfrm>
            <a:off x="85537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e462fd33d1_0_116"/>
          <p:cNvSpPr txBox="1"/>
          <p:nvPr/>
        </p:nvSpPr>
        <p:spPr>
          <a:xfrm>
            <a:off x="32250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pic>
        <p:nvPicPr>
          <p:cNvPr id="293" name="Google Shape;293;g3e462fd33d1_0_116" title="ironcount_demo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32825" y="2107219"/>
            <a:ext cx="3432300" cy="25742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4" name="Google Shape;294;g3e462fd33d1_0_116"/>
          <p:cNvGraphicFramePr/>
          <p:nvPr/>
        </p:nvGraphicFramePr>
        <p:xfrm>
          <a:off x="152400" y="149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{3E63DF4A-92A1-4B4E-B321-3DCEE51734F9}</a:tableStyleId>
              </a:tblPr>
              <a:tblGrid>
                <a:gridCol w="2228850"/>
                <a:gridCol w="6229350"/>
              </a:tblGrid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Component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Role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CameraManager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Captures live camera frames and manages real-time camera processing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CameraPreview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Displays the live camera feed inside the SwiftUI interface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MediaPipePoseManager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Extracts real-time MediaPipe body landmarks from video frames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FeatureExtractor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Converts pose landmarks into engineered pose, angle, geometry, and velocity features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ExerciseClassifier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Runs CoreML LSTM inference on 48-frame temporal pose sequences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RepCounter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Counts repetitions using exercise-specific joint angle heuristics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PCARepCounter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Counts repetitions using PCA-based motion signal analysis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ContentView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Displays the camera preview, predicted exercise, repetition count, workout timer, and workout history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WorkoutRecord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Stores completed workout session history and exercise statistics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WorkoutClassifierLSTM.mlpackage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Deployed CoreML LSTM classification model used for on-device inference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label_names.json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Maps model output indices to exercise labels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mediapipe_scaler.json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Stores normalization parameters used during inference preprocessing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coreml_bundle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Contains deployed CoreML model assets and inference resources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462fd33d1_0_199"/>
          <p:cNvSpPr/>
          <p:nvPr/>
        </p:nvSpPr>
        <p:spPr>
          <a:xfrm>
            <a:off x="1040263" y="2154700"/>
            <a:ext cx="4776900" cy="167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TensorFlow LSTM implementation faced compatibility and deployment limitations for mobile integration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00" name="Google Shape;300;g3e462fd33d1_0_199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/>
          </a:p>
        </p:txBody>
      </p:sp>
      <p:sp>
        <p:nvSpPr>
          <p:cNvPr id="301" name="Google Shape;301;g3e462fd33d1_0_199"/>
          <p:cNvSpPr txBox="1"/>
          <p:nvPr>
            <p:ph idx="1" type="body"/>
          </p:nvPr>
        </p:nvSpPr>
        <p:spPr>
          <a:xfrm>
            <a:off x="739826" y="1368200"/>
            <a:ext cx="5377800" cy="3804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Model Deployment &amp; Architecture Challenges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e462fd33d1_0_199"/>
          <p:cNvSpPr txBox="1"/>
          <p:nvPr/>
        </p:nvSpPr>
        <p:spPr>
          <a:xfrm>
            <a:off x="7410138" y="1341500"/>
            <a:ext cx="30276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Classification/Counting</a:t>
            </a:r>
            <a:r>
              <a:rPr b="1" lang="en-US" sz="2000">
                <a:solidFill>
                  <a:schemeClr val="dk1"/>
                </a:solidFill>
              </a:rPr>
              <a:t> Accuracy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303" name="Google Shape;303;g3e462fd33d1_0_199"/>
          <p:cNvSpPr/>
          <p:nvPr/>
        </p:nvSpPr>
        <p:spPr>
          <a:xfrm>
            <a:off x="1040263" y="4083150"/>
            <a:ext cx="4776900" cy="1672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Solution: </a:t>
            </a:r>
            <a:r>
              <a:rPr lang="en-US" sz="1700">
                <a:solidFill>
                  <a:schemeClr val="lt1"/>
                </a:solidFill>
              </a:rPr>
              <a:t>Migrated sequence models to PyTorch with CoreML conversion support for iOS deployment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04" name="Google Shape;304;g3e462fd33d1_0_199"/>
          <p:cNvSpPr/>
          <p:nvPr/>
        </p:nvSpPr>
        <p:spPr>
          <a:xfrm>
            <a:off x="6535488" y="2154700"/>
            <a:ext cx="4776900" cy="167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Classification and rep counting </a:t>
            </a:r>
            <a:r>
              <a:rPr lang="en-US" sz="1700">
                <a:solidFill>
                  <a:schemeClr val="dk1"/>
                </a:solidFill>
              </a:rPr>
              <a:t>accuracy was sensitive to camera angle, lighting conditions, occlusions, and body positioning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05" name="Google Shape;305;g3e462fd33d1_0_199"/>
          <p:cNvSpPr/>
          <p:nvPr/>
        </p:nvSpPr>
        <p:spPr>
          <a:xfrm>
            <a:off x="6535488" y="4083150"/>
            <a:ext cx="4776900" cy="1672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Solution: </a:t>
            </a:r>
            <a:r>
              <a:rPr lang="en-US" sz="1700">
                <a:solidFill>
                  <a:schemeClr val="lt1"/>
                </a:solidFill>
              </a:rPr>
              <a:t>Expanded training data using a larger workout dataset and evaluated on noisy real-world test videos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06" name="Google Shape;306;g3e462fd33d1_0_199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e462fd33d1_0_199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49763ec6b_1_48"/>
          <p:cNvSpPr/>
          <p:nvPr/>
        </p:nvSpPr>
        <p:spPr>
          <a:xfrm>
            <a:off x="338275" y="1452175"/>
            <a:ext cx="2930100" cy="418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g3e49763ec6b_1_48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Future Steps</a:t>
            </a:r>
            <a:endParaRPr/>
          </a:p>
        </p:txBody>
      </p:sp>
      <p:sp>
        <p:nvSpPr>
          <p:cNvPr id="314" name="Google Shape;314;g3e49763ec6b_1_48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e49763ec6b_1_48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  <p:sp>
        <p:nvSpPr>
          <p:cNvPr id="316" name="Google Shape;316;g3e49763ec6b_1_48"/>
          <p:cNvSpPr/>
          <p:nvPr/>
        </p:nvSpPr>
        <p:spPr>
          <a:xfrm>
            <a:off x="4632800" y="1452175"/>
            <a:ext cx="2930100" cy="4182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g3e49763ec6b_1_48"/>
          <p:cNvSpPr/>
          <p:nvPr/>
        </p:nvSpPr>
        <p:spPr>
          <a:xfrm>
            <a:off x="8956750" y="1452175"/>
            <a:ext cx="2930100" cy="41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g3e49763ec6b_1_48"/>
          <p:cNvSpPr txBox="1"/>
          <p:nvPr/>
        </p:nvSpPr>
        <p:spPr>
          <a:xfrm>
            <a:off x="687275" y="1791475"/>
            <a:ext cx="24849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Improved Real-World Robustness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19" name="Google Shape;319;g3e49763ec6b_1_48"/>
          <p:cNvSpPr txBox="1"/>
          <p:nvPr/>
        </p:nvSpPr>
        <p:spPr>
          <a:xfrm>
            <a:off x="4869000" y="2937950"/>
            <a:ext cx="2617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Joint-angle analysis and m</a:t>
            </a:r>
            <a:r>
              <a:rPr lang="en-US" sz="1700">
                <a:solidFill>
                  <a:schemeClr val="lt1"/>
                </a:solidFill>
              </a:rPr>
              <a:t>ovement quality feedback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20" name="Google Shape;320;g3e49763ec6b_1_48"/>
          <p:cNvSpPr txBox="1"/>
          <p:nvPr/>
        </p:nvSpPr>
        <p:spPr>
          <a:xfrm>
            <a:off x="9515800" y="1717525"/>
            <a:ext cx="22101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Integration with Other Platforms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21" name="Google Shape;321;g3e49763ec6b_1_48"/>
          <p:cNvSpPr/>
          <p:nvPr/>
        </p:nvSpPr>
        <p:spPr>
          <a:xfrm>
            <a:off x="3384775" y="3062150"/>
            <a:ext cx="1087200" cy="65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2" name="Google Shape;322;g3e49763ec6b_1_48"/>
          <p:cNvSpPr txBox="1"/>
          <p:nvPr/>
        </p:nvSpPr>
        <p:spPr>
          <a:xfrm>
            <a:off x="433650" y="4221050"/>
            <a:ext cx="26505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Result:</a:t>
            </a:r>
            <a:r>
              <a:rPr lang="en-US" sz="1700">
                <a:solidFill>
                  <a:schemeClr val="dk1"/>
                </a:solidFill>
              </a:rPr>
              <a:t> Better accuracy performance even in crowded-gym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23" name="Google Shape;323;g3e49763ec6b_1_48"/>
          <p:cNvSpPr txBox="1"/>
          <p:nvPr/>
        </p:nvSpPr>
        <p:spPr>
          <a:xfrm>
            <a:off x="293850" y="1791475"/>
            <a:ext cx="590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1.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324" name="Google Shape;324;g3e49763ec6b_1_48"/>
          <p:cNvSpPr txBox="1"/>
          <p:nvPr/>
        </p:nvSpPr>
        <p:spPr>
          <a:xfrm>
            <a:off x="4868950" y="1791475"/>
            <a:ext cx="590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2</a:t>
            </a:r>
            <a:r>
              <a:rPr b="1" lang="en-US" sz="2000">
                <a:solidFill>
                  <a:schemeClr val="lt1"/>
                </a:solidFill>
              </a:rPr>
              <a:t>.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325" name="Google Shape;325;g3e49763ec6b_1_48"/>
          <p:cNvSpPr txBox="1"/>
          <p:nvPr/>
        </p:nvSpPr>
        <p:spPr>
          <a:xfrm>
            <a:off x="5322250" y="1700875"/>
            <a:ext cx="24849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Real-Time Form Correction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326" name="Google Shape;326;g3e49763ec6b_1_48"/>
          <p:cNvSpPr txBox="1"/>
          <p:nvPr/>
        </p:nvSpPr>
        <p:spPr>
          <a:xfrm>
            <a:off x="433650" y="3104663"/>
            <a:ext cx="2366400" cy="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More training data and advanced models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g3e49763ec6b_1_48"/>
          <p:cNvSpPr txBox="1"/>
          <p:nvPr/>
        </p:nvSpPr>
        <p:spPr>
          <a:xfrm>
            <a:off x="4834650" y="4221050"/>
            <a:ext cx="24849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Result:</a:t>
            </a:r>
            <a:r>
              <a:rPr lang="en-US" sz="1700">
                <a:solidFill>
                  <a:schemeClr val="lt1"/>
                </a:solidFill>
              </a:rPr>
              <a:t> Fewer injuries and safer workout technique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28" name="Google Shape;328;g3e49763ec6b_1_48"/>
          <p:cNvSpPr txBox="1"/>
          <p:nvPr/>
        </p:nvSpPr>
        <p:spPr>
          <a:xfrm>
            <a:off x="9039575" y="1791475"/>
            <a:ext cx="590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3</a:t>
            </a:r>
            <a:r>
              <a:rPr b="1" lang="en-US" sz="2000">
                <a:solidFill>
                  <a:schemeClr val="lt1"/>
                </a:solidFill>
              </a:rPr>
              <a:t>.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329" name="Google Shape;329;g3e49763ec6b_1_48"/>
          <p:cNvSpPr txBox="1"/>
          <p:nvPr/>
        </p:nvSpPr>
        <p:spPr>
          <a:xfrm>
            <a:off x="9087125" y="2621750"/>
            <a:ext cx="27798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Connect with other fitness apps, wearables, and even AI Assistant for centralized workout analytics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30" name="Google Shape;330;g3e49763ec6b_1_48"/>
          <p:cNvSpPr txBox="1"/>
          <p:nvPr/>
        </p:nvSpPr>
        <p:spPr>
          <a:xfrm>
            <a:off x="9113050" y="4158950"/>
            <a:ext cx="26175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Result:</a:t>
            </a:r>
            <a:r>
              <a:rPr lang="en-US" sz="1700">
                <a:solidFill>
                  <a:schemeClr val="lt1"/>
                </a:solidFill>
              </a:rPr>
              <a:t> Unified fitness tracking, personalized workouts, and overall improved long-term health insights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31" name="Google Shape;331;g3e49763ec6b_1_48"/>
          <p:cNvSpPr/>
          <p:nvPr/>
        </p:nvSpPr>
        <p:spPr>
          <a:xfrm>
            <a:off x="7716225" y="3062150"/>
            <a:ext cx="1087200" cy="65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"/>
          <p:cNvSpPr txBox="1"/>
          <p:nvPr>
            <p:ph type="title"/>
          </p:nvPr>
        </p:nvSpPr>
        <p:spPr>
          <a:xfrm>
            <a:off x="831851" y="2359717"/>
            <a:ext cx="8729244" cy="2226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Thank You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 txBox="1"/>
          <p:nvPr>
            <p:ph idx="12" type="sldNum"/>
          </p:nvPr>
        </p:nvSpPr>
        <p:spPr>
          <a:xfrm>
            <a:off x="8621618" y="6448113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3292950" y="6459000"/>
            <a:ext cx="5606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ADSP </a:t>
            </a:r>
            <a:r>
              <a:rPr lang="en-US">
                <a:solidFill>
                  <a:srgbClr val="FFFFFF"/>
                </a:solidFill>
              </a:rPr>
              <a:t>32023</a:t>
            </a: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rgbClr val="FFFFFF"/>
                </a:solidFill>
              </a:rPr>
              <a:t>– Advanced Computer Vision Using Deep Learning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Chicago">
  <a:themeElements>
    <a:clrScheme name="Custom 1">
      <a:dk1>
        <a:srgbClr val="000000"/>
      </a:dk1>
      <a:lt1>
        <a:srgbClr val="FFFFFF"/>
      </a:lt1>
      <a:dk2>
        <a:srgbClr val="737373"/>
      </a:dk2>
      <a:lt2>
        <a:srgbClr val="D9D9D9"/>
      </a:lt2>
      <a:accent1>
        <a:srgbClr val="800000"/>
      </a:accent1>
      <a:accent2>
        <a:srgbClr val="D9D9D9"/>
      </a:accent2>
      <a:accent3>
        <a:srgbClr val="A6A6A6"/>
      </a:accent3>
      <a:accent4>
        <a:srgbClr val="EAAA00"/>
      </a:accent4>
      <a:accent5>
        <a:srgbClr val="B36955"/>
      </a:accent5>
      <a:accent6>
        <a:srgbClr val="002A3A"/>
      </a:accent6>
      <a:hlink>
        <a:srgbClr val="0000EE"/>
      </a:hlink>
      <a:folHlink>
        <a:srgbClr val="7373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2026-05-21T20:53:37Z</dcterms:created>
  <dc:creator>Jaysen Jensen</dc:creator>
</cp:coreProperties>
</file>